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C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Analysis of Health Factors Associated</a:t>
            </a:r>
          </a:p>
          <a:p>
            <a:r>
              <a:t>with Heart Disease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Capstone Project: Exploratory Data Analysis (EDA)</a:t>
            </a:r>
          </a:p>
          <a:p>
            <a:r>
              <a:t>Submitted by: Jyoti Prakash 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  <a:latin typeface="Arial" panose="020B0604020202020204"/>
              </a:defRPr>
            </a:pPr>
            <a:r>
              <a:t>1. Project Overview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4572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345170" cy="34658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/>
          <a:p>
            <a:pPr>
              <a:spcAft>
                <a:spcPts val="1200"/>
              </a:spcAft>
              <a:defRPr sz="1600">
                <a:latin typeface="Arial" panose="020B0604020202020204"/>
              </a:defRPr>
            </a:pPr>
            <a:r>
              <a:t>• Dataset: BRFSS 2015 Health Indicators (Behavioral Risk Factor Surveillance System).</a:t>
            </a:r>
          </a:p>
          <a:p>
            <a:pPr>
              <a:spcAft>
                <a:spcPts val="1200"/>
              </a:spcAft>
              <a:defRPr sz="1600">
                <a:latin typeface="Arial" panose="020B0604020202020204"/>
              </a:defRPr>
            </a:pPr>
            <a:r>
              <a:t>• Scale: 253,680 survey responses with 22 health features.</a:t>
            </a:r>
          </a:p>
          <a:p>
            <a:pPr>
              <a:spcAft>
                <a:spcPts val="1200"/>
              </a:spcAft>
              <a:defRPr sz="1600">
                <a:latin typeface="Arial" panose="020B0604020202020204"/>
              </a:defRPr>
            </a:pPr>
            <a:r>
              <a:t>• Objective: To conduct Exploratory Data Analysis (EDA) to identify significant demographic, clinical, and lifestyle indicators of heart disease.</a:t>
            </a:r>
          </a:p>
          <a:p>
            <a:pPr>
              <a:spcAft>
                <a:spcPts val="1200"/>
              </a:spcAft>
              <a:defRPr sz="1600">
                <a:latin typeface="Arial" panose="020B0604020202020204"/>
              </a:defRPr>
            </a:pPr>
            <a:r>
              <a:t>• Approach: Data Cleaning → Univariate Analysis → Bivariate Analysis → Correlation Study.</a:t>
            </a:r>
          </a:p>
        </p:txBody>
      </p:sp>
      <p:pic>
        <p:nvPicPr>
          <p:cNvPr id="6" name="Picture 5" descr="Methodology_Roadma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46830"/>
            <a:ext cx="9144635" cy="30111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  <a:latin typeface="Arial" panose="020B0604020202020204"/>
              </a:defRPr>
            </a:pPr>
            <a:r>
              <a:t>2. Data Cleaning &amp; Integrity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178165" cy="23120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/>
          <a:p>
            <a:pPr>
              <a:spcAft>
                <a:spcPts val="1200"/>
              </a:spcAft>
              <a:defRPr sz="1600">
                <a:latin typeface="Arial" panose="020B0604020202020204"/>
              </a:defRPr>
            </a:pPr>
            <a:r>
              <a:t>• Duplicate Handling: Identified and removed 23,899 duplicate records to ensure statistical validity.</a:t>
            </a:r>
          </a:p>
          <a:p>
            <a:pPr>
              <a:spcAft>
                <a:spcPts val="1200"/>
              </a:spcAft>
              <a:defRPr sz="1600">
                <a:latin typeface="Arial" panose="020B0604020202020204"/>
              </a:defRPr>
            </a:pPr>
            <a:r>
              <a:t>• Final Sample Size: 229,781 unique observations.</a:t>
            </a:r>
          </a:p>
          <a:p>
            <a:pPr>
              <a:spcAft>
                <a:spcPts val="1200"/>
              </a:spcAft>
              <a:defRPr sz="1600">
                <a:latin typeface="Arial" panose="020B0604020202020204"/>
              </a:defRPr>
            </a:pPr>
            <a:r>
              <a:t>• Missing Values: Verified dataset contains zero null values.</a:t>
            </a:r>
          </a:p>
          <a:p>
            <a:pPr>
              <a:spcAft>
                <a:spcPts val="1200"/>
              </a:spcAft>
              <a:defRPr sz="1600">
                <a:latin typeface="Arial" panose="020B0604020202020204"/>
              </a:defRPr>
            </a:pPr>
            <a:r>
              <a:t>• Encoding: Coded variables (e.g., Sex: 0/1, Diabetes: 0/1/2) were mapped to human-readable labels for analysis.</a:t>
            </a:r>
          </a:p>
        </p:txBody>
      </p:sp>
      <p:pic>
        <p:nvPicPr>
          <p:cNvPr id="6" name="Picture 5" descr="Data_Integrity_Summar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0960" y="3767455"/>
            <a:ext cx="6482715" cy="30905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  <a:latin typeface="Arial" panose="020B0604020202020204"/>
              </a:defRPr>
            </a:pPr>
            <a:r>
              <a:t>3. Target Variable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latin typeface="Arial" panose="020B0604020202020204"/>
              </a:defRPr>
            </a:pPr>
            <a:r>
              <a:t>• Variable: 'HeartDiseaseorAttack' (Binary).</a:t>
            </a:r>
          </a:p>
          <a:p>
            <a:pPr>
              <a:spcAft>
                <a:spcPts val="1200"/>
              </a:spcAft>
              <a:defRPr sz="1600">
                <a:latin typeface="Arial" panose="020B0604020202020204"/>
              </a:defRPr>
            </a:pPr>
            <a:r>
              <a:t>• Distribution: The dataset is significantly imbalanced.</a:t>
            </a:r>
          </a:p>
          <a:p>
            <a:pPr>
              <a:spcAft>
                <a:spcPts val="1200"/>
              </a:spcAft>
              <a:defRPr sz="1600">
                <a:latin typeface="Arial" panose="020B0604020202020204"/>
              </a:defRPr>
            </a:pPr>
            <a:r>
              <a:t>• No Heart Disease: ~90% (Majority Class).</a:t>
            </a:r>
          </a:p>
          <a:p>
            <a:pPr>
              <a:spcAft>
                <a:spcPts val="1200"/>
              </a:spcAft>
              <a:defRPr sz="1600">
                <a:latin typeface="Arial" panose="020B0604020202020204"/>
              </a:defRPr>
            </a:pPr>
            <a:r>
              <a:t>• Heart Disease: ~10% (Minority Class).</a:t>
            </a:r>
          </a:p>
          <a:p>
            <a:pPr>
              <a:spcAft>
                <a:spcPts val="1200"/>
              </a:spcAft>
              <a:defRPr sz="1600">
                <a:latin typeface="Arial" panose="020B0604020202020204"/>
              </a:defRPr>
            </a:pPr>
            <a:r>
              <a:t>• Analytical Note: This imbalance establishes the baseline probability and highlights the rarity of the condition in the general population.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1463040"/>
            <a:ext cx="3657600" cy="3657600"/>
          </a:xfrm>
          <a:prstGeom prst="rect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0000"/>
                </a:solidFill>
              </a:defRPr>
            </a:pPr>
            <a:r>
              <a:t>[PASTE SCREENSHOT:</a:t>
            </a:r>
            <a:br/>
            <a:r>
              <a:t>Bar Chart: Target Variable Count]</a:t>
            </a:r>
          </a:p>
        </p:txBody>
      </p:sp>
      <p:pic>
        <p:nvPicPr>
          <p:cNvPr id="15" name="Picture 14" descr="downloa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8075" y="1417955"/>
            <a:ext cx="4225925" cy="42379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  <a:latin typeface="Arial" panose="020B0604020202020204"/>
              </a:defRPr>
            </a:pPr>
            <a:r>
              <a:t>4. Univariate Analysis: Demographics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955"/>
            <a:ext cx="8235315" cy="1906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latin typeface="Arial" panose="020B0604020202020204"/>
              </a:defRPr>
            </a:pPr>
            <a:r>
              <a:t>• Age Structure: The survey population skews towards older adults, with the highest density in the 60-69 age bracket.</a:t>
            </a:r>
          </a:p>
          <a:p>
            <a:pPr>
              <a:spcAft>
                <a:spcPts val="1200"/>
              </a:spcAft>
              <a:defRPr sz="1600">
                <a:latin typeface="Arial" panose="020B0604020202020204"/>
              </a:defRPr>
            </a:pPr>
            <a:r>
              <a:t>• </a:t>
            </a:r>
            <a:r>
              <a:rPr lang="en-US" altLang="en-US"/>
              <a:t>Gender Balance: Females slightly outnumber males in the dataset (56.1% vs 43.9%)</a:t>
            </a:r>
            <a:r>
              <a:t>.</a:t>
            </a:r>
          </a:p>
          <a:p>
            <a:pPr>
              <a:spcAft>
                <a:spcPts val="1200"/>
              </a:spcAft>
              <a:defRPr sz="1600">
                <a:latin typeface="Arial" panose="020B0604020202020204"/>
              </a:defRPr>
            </a:pPr>
            <a:r>
              <a:t>• Education/Income: The dataset represents a relatively educated population, which may introduce socioeconomic bias.</a:t>
            </a:r>
          </a:p>
        </p:txBody>
      </p:sp>
      <p:pic>
        <p:nvPicPr>
          <p:cNvPr id="6" name="Picture 5" descr="download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205"/>
            <a:ext cx="8236585" cy="35667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  <a:latin typeface="Arial" panose="020B0604020202020204"/>
              </a:defRPr>
            </a:pPr>
            <a:r>
              <a:t>5. Univariate Analysis: Health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35315" cy="1660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latin typeface="Arial" panose="020B0604020202020204"/>
              </a:defRPr>
            </a:pPr>
            <a:r>
              <a:t>• </a:t>
            </a:r>
            <a:r>
              <a:rPr lang="en-US" altLang="en-US"/>
              <a:t>BMI Distribution: The BMI distribution is right-skewed, with most individuals in the Overweight (35.5%) and Obese (31.1%) categories</a:t>
            </a:r>
            <a:r>
              <a:rPr lang="en-IN" altLang="en-US"/>
              <a:t>.</a:t>
            </a:r>
            <a:endParaRPr lang="en-US" altLang="en-US"/>
          </a:p>
          <a:p>
            <a:pPr>
              <a:spcAft>
                <a:spcPts val="1200"/>
              </a:spcAft>
              <a:defRPr sz="1600">
                <a:latin typeface="Arial" panose="020B0604020202020204"/>
              </a:defRPr>
            </a:pPr>
            <a:r>
              <a:t>• General Health: Majority of respondents self-report 'Good' to 'Excellent' health.</a:t>
            </a:r>
          </a:p>
          <a:p>
            <a:pPr>
              <a:spcAft>
                <a:spcPts val="1200"/>
              </a:spcAft>
              <a:defRPr sz="1600">
                <a:latin typeface="Arial" panose="020B0604020202020204"/>
              </a:defRPr>
            </a:pPr>
            <a:r>
              <a:t>• Outliers: Significant outliers observed in BMI, representing extreme obesity cases.</a:t>
            </a:r>
          </a:p>
        </p:txBody>
      </p:sp>
      <p:pic>
        <p:nvPicPr>
          <p:cNvPr id="7" name="Picture 6" descr="downloa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65170"/>
            <a:ext cx="8267065" cy="35928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  <a:latin typeface="Arial" panose="020B0604020202020204"/>
              </a:defRPr>
            </a:pPr>
            <a:r>
              <a:t>6. Bivariate Analysis: Clinical Factors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07375" cy="1906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latin typeface="Arial" panose="020B0604020202020204"/>
              </a:defRPr>
            </a:pPr>
            <a:r>
              <a:t>• Hypertension (High BP): The strongest differentiator. Prevalence of heart disease is drastically higher in individuals with High BP</a:t>
            </a:r>
            <a:r>
              <a:rPr lang="en-IN"/>
              <a:t> (17 % compared to 4.7%).</a:t>
            </a:r>
          </a:p>
          <a:p>
            <a:pPr>
              <a:spcAft>
                <a:spcPts val="1200"/>
              </a:spcAft>
              <a:defRPr sz="1600">
                <a:latin typeface="Arial" panose="020B0604020202020204"/>
              </a:defRPr>
            </a:pPr>
            <a:r>
              <a:t>• High Cholesterol:</a:t>
            </a:r>
            <a:r>
              <a:rPr lang="en-IN"/>
              <a:t> Similarly</a:t>
            </a:r>
            <a:r>
              <a:t> strong positive association</a:t>
            </a:r>
            <a:r>
              <a:rPr lang="en-IN"/>
              <a:t> (16.4 % as compared to 5.6 %)</a:t>
            </a:r>
            <a:r>
              <a:t>.</a:t>
            </a:r>
          </a:p>
          <a:p>
            <a:pPr>
              <a:spcAft>
                <a:spcPts val="1200"/>
              </a:spcAft>
              <a:defRPr sz="1600">
                <a:latin typeface="Arial" panose="020B0604020202020204"/>
              </a:defRPr>
            </a:pPr>
            <a:r>
              <a:t>• Conclusion: These two clinical markers are the most reliable indicators of cardiac risk in this dataset.</a:t>
            </a:r>
          </a:p>
        </p:txBody>
      </p:sp>
      <p:pic>
        <p:nvPicPr>
          <p:cNvPr id="7" name="Picture 6" descr="downloa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354705"/>
            <a:ext cx="7315835" cy="35032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  <a:latin typeface="Arial" panose="020B0604020202020204"/>
              </a:defRPr>
            </a:pPr>
            <a:r>
              <a:t>7. Lifestyle &amp; Comorbidities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6425" cy="181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latin typeface="Arial" panose="020B0604020202020204"/>
              </a:defRPr>
            </a:pPr>
            <a:r>
              <a:t>• Diabetes: Individuals with diabetes show 2x-3x higher rates of heart disease.</a:t>
            </a:r>
          </a:p>
          <a:p>
            <a:pPr>
              <a:spcAft>
                <a:spcPts val="1200"/>
              </a:spcAft>
              <a:defRPr sz="1600">
                <a:latin typeface="Arial" panose="020B0604020202020204"/>
              </a:defRPr>
            </a:pPr>
            <a:r>
              <a:t>• Smoking: Lifetime smokers show elevated risk compared to non-smokers.</a:t>
            </a:r>
          </a:p>
          <a:p>
            <a:pPr>
              <a:spcAft>
                <a:spcPts val="1200"/>
              </a:spcAft>
              <a:defRPr sz="1600">
                <a:latin typeface="Arial" panose="020B0604020202020204"/>
              </a:defRPr>
            </a:pPr>
            <a:r>
              <a:t>• Stroke: Strong comorbidity; history of stroke is highly predictive of heart disease.</a:t>
            </a:r>
          </a:p>
          <a:p>
            <a:pPr>
              <a:spcAft>
                <a:spcPts val="1200"/>
              </a:spcAft>
              <a:defRPr sz="1600">
                <a:latin typeface="Arial" panose="020B0604020202020204"/>
              </a:defRPr>
            </a:pPr>
            <a:r>
              <a:t>• Difficulty Walking: Strong proxy for overall physical decline and cardiac risk.</a:t>
            </a:r>
          </a:p>
        </p:txBody>
      </p:sp>
      <p:pic>
        <p:nvPicPr>
          <p:cNvPr id="6" name="Picture 5" descr="download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0970" y="3322955"/>
            <a:ext cx="6322695" cy="35521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  <a:latin typeface="Arial" panose="020B0604020202020204"/>
              </a:defRPr>
            </a:pPr>
            <a:r>
              <a:t>8. Correlation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572000" cy="4246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latin typeface="Arial" panose="020B0604020202020204"/>
              </a:defRPr>
            </a:pPr>
            <a:r>
              <a:rPr lang="en-US" altLang="en-US"/>
              <a:t>Methodology: Pearson Correlation Coefficient</a:t>
            </a:r>
            <a:endParaRPr lang="en-US" altLang="en-US"/>
          </a:p>
          <a:p>
            <a:pPr>
              <a:spcAft>
                <a:spcPts val="1200"/>
              </a:spcAft>
              <a:defRPr sz="1600">
                <a:latin typeface="Arial" panose="020B0604020202020204"/>
              </a:defRPr>
            </a:pPr>
            <a:r>
              <a:rPr lang="en-US" altLang="en-US"/>
              <a:t>• Strongest Positive Associations:</a:t>
            </a:r>
            <a:endParaRPr lang="en-US" altLang="en-US"/>
          </a:p>
          <a:p>
            <a:pPr>
              <a:spcAft>
                <a:spcPts val="1200"/>
              </a:spcAft>
              <a:defRPr sz="1600">
                <a:latin typeface="Arial" panose="020B0604020202020204"/>
              </a:defRPr>
            </a:pPr>
            <a:r>
              <a:rPr lang="en-US" altLang="en-US"/>
              <a:t>Age, Poor General Health, High Blood Pressure, and High Cholesterol show the highest correlations with heart disease.</a:t>
            </a:r>
            <a:endParaRPr lang="en-US" altLang="en-US"/>
          </a:p>
          <a:p>
            <a:pPr>
              <a:spcAft>
                <a:spcPts val="1200"/>
              </a:spcAft>
              <a:defRPr sz="1600">
                <a:latin typeface="Arial" panose="020B0604020202020204"/>
              </a:defRPr>
            </a:pPr>
            <a:r>
              <a:rPr lang="en-US" altLang="en-US"/>
              <a:t>• Protective Factors:</a:t>
            </a:r>
            <a:endParaRPr lang="en-US" altLang="en-US"/>
          </a:p>
          <a:p>
            <a:pPr>
              <a:spcAft>
                <a:spcPts val="1200"/>
              </a:spcAft>
              <a:defRPr sz="1600">
                <a:latin typeface="Arial" panose="020B0604020202020204"/>
              </a:defRPr>
            </a:pPr>
            <a:r>
              <a:rPr lang="en-US" altLang="en-US"/>
              <a:t>Higher Income and Education levels are negatively correlated with heart disease, indicating lower cardiovascular risk.</a:t>
            </a:r>
            <a:endParaRPr lang="en-US" altLang="en-US"/>
          </a:p>
          <a:p>
            <a:pPr>
              <a:spcAft>
                <a:spcPts val="1200"/>
              </a:spcAft>
              <a:defRPr sz="1600">
                <a:latin typeface="Arial" panose="020B0604020202020204"/>
              </a:defRPr>
            </a:pPr>
            <a:r>
              <a:rPr lang="en-US" altLang="en-US"/>
              <a:t>• Multicollinearity:</a:t>
            </a:r>
            <a:endParaRPr lang="en-US" altLang="en-US"/>
          </a:p>
          <a:p>
            <a:pPr>
              <a:spcAft>
                <a:spcPts val="1200"/>
              </a:spcAft>
              <a:defRPr sz="1600">
                <a:latin typeface="Arial" panose="020B0604020202020204"/>
              </a:defRPr>
            </a:pPr>
            <a:r>
              <a:rPr lang="en-US" altLang="en-US"/>
              <a:t>Physical Health and General Health are strongly related, reflecting overlapping health conditions.</a:t>
            </a:r>
            <a:endParaRPr lang="en-US" altLang="en-US"/>
          </a:p>
        </p:txBody>
      </p:sp>
      <p:pic>
        <p:nvPicPr>
          <p:cNvPr id="6" name="Picture 5" descr="download (3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00" y="1320165"/>
            <a:ext cx="4172585" cy="553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  <a:latin typeface="Arial" panose="020B0604020202020204"/>
              </a:defRPr>
            </a:pPr>
            <a:r>
              <a:t>9. Advanced Insight: The Alcohol Paradox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25880"/>
            <a:ext cx="8229600" cy="4572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3803650" cy="22967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en-US"/>
              <a:t>• Observation: Heavy drinkers appear to have lower heart disease rates.</a:t>
            </a:r>
            <a:endParaRPr lang="en-US" altLang="en-US"/>
          </a:p>
          <a:p>
            <a:r>
              <a:rPr lang="en-US" altLang="en-US"/>
              <a:t>• Confounder: Age strongly influences this pattern.</a:t>
            </a:r>
            <a:endParaRPr lang="en-US" altLang="en-US"/>
          </a:p>
          <a:p>
            <a:r>
              <a:rPr lang="en-US" altLang="en-US"/>
              <a:t>• Finding: Heavy drinkers are mostly younger; non-drinkers are older.</a:t>
            </a:r>
            <a:endParaRPr lang="en-US" altLang="en-US"/>
          </a:p>
          <a:p>
            <a:r>
              <a:rPr lang="en-US" altLang="en-US"/>
              <a:t>• Conclusion: The apparent benefit is misleading (Simpson’s Paradox).</a:t>
            </a:r>
            <a:endParaRPr lang="en-US" altLang="en-US"/>
          </a:p>
        </p:txBody>
      </p:sp>
      <p:pic>
        <p:nvPicPr>
          <p:cNvPr id="6" name="Picture 5" descr="downloa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8820" y="1460500"/>
            <a:ext cx="4157980" cy="2270760"/>
          </a:xfrm>
          <a:prstGeom prst="rect">
            <a:avLst/>
          </a:prstGeom>
        </p:spPr>
      </p:pic>
      <p:pic>
        <p:nvPicPr>
          <p:cNvPr id="7" name="Picture 6" descr="download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73805"/>
            <a:ext cx="9144635" cy="30048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  <a:latin typeface="Arial" panose="020B0604020202020204"/>
              </a:defRPr>
            </a:pPr>
            <a:r>
              <a:t>10. Summary of Key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239375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/>
              <a:t>• General Health is the strongest predictor (r = 0.25)</a:t>
            </a:r>
            <a:endParaRPr lang="en-US" altLang="en-US"/>
          </a:p>
          <a:p>
            <a:r>
              <a:rPr lang="en-US" altLang="en-US"/>
              <a:t>• Age increases risk but is secondary (r = 0.22)</a:t>
            </a:r>
            <a:endParaRPr lang="en-US" altLang="en-US"/>
          </a:p>
          <a:p>
            <a:r>
              <a:rPr lang="en-US" altLang="en-US"/>
              <a:t>• High BP &amp; High Cholesterol are major clinical risks (r = 0.20, 0.18)</a:t>
            </a:r>
            <a:endParaRPr lang="en-US" altLang="en-US"/>
          </a:p>
          <a:p>
            <a:r>
              <a:rPr lang="en-US" altLang="en-US"/>
              <a:t>• Physical Health matters more than BMI or Mental Health</a:t>
            </a:r>
            <a:endParaRPr lang="en-US" altLang="en-US"/>
          </a:p>
          <a:p>
            <a:r>
              <a:rPr lang="en-US" altLang="en-US"/>
              <a:t>• Higher Income &amp; Education reduce disease risk</a:t>
            </a:r>
            <a:endParaRPr lang="en-US" altLang="en-US"/>
          </a:p>
          <a:p>
            <a:r>
              <a:rPr lang="en-US" altLang="en-US"/>
              <a:t>• Lifestyle factors play a secondary role</a:t>
            </a:r>
            <a:endParaRPr lang="en-US" altLang="en-US"/>
          </a:p>
        </p:txBody>
      </p:sp>
      <p:pic>
        <p:nvPicPr>
          <p:cNvPr id="5" name="Picture 4" descr="Professional_Risk_Infographi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261360"/>
            <a:ext cx="9144000" cy="3601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  <a:latin typeface="Arial" panose="020B0604020202020204"/>
              </a:defRPr>
            </a:pPr>
            <a:r>
              <a:t>11. Conclusion &amp;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58810" cy="2076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b="1" u="sng"/>
              <a:t>Conclusion</a:t>
            </a:r>
            <a:endParaRPr lang="en-US" altLang="en-US" sz="2400" b="1" u="sng"/>
          </a:p>
          <a:p>
            <a:endParaRPr lang="en-US" altLang="en-US" sz="1500"/>
          </a:p>
          <a:p>
            <a:r>
              <a:rPr lang="en-US" altLang="en-US" sz="1500">
                <a:sym typeface="+mn-ea"/>
              </a:rPr>
              <a:t>•</a:t>
            </a:r>
            <a:r>
              <a:rPr lang="en-IN" altLang="en-US" sz="1500">
                <a:sym typeface="+mn-ea"/>
              </a:rPr>
              <a:t> </a:t>
            </a:r>
            <a:r>
              <a:rPr lang="en-US" altLang="en-US" sz="1500"/>
              <a:t>This Exploratory Data Analysis confirms well-established cardiovascular risk patterns.</a:t>
            </a:r>
            <a:endParaRPr lang="en-US" altLang="en-US" sz="1500"/>
          </a:p>
          <a:p>
            <a:r>
              <a:rPr lang="en-US" altLang="en-US" sz="1500">
                <a:sym typeface="+mn-ea"/>
              </a:rPr>
              <a:t>•</a:t>
            </a:r>
            <a:r>
              <a:rPr lang="en-IN" altLang="en-US" sz="1500">
                <a:sym typeface="+mn-ea"/>
              </a:rPr>
              <a:t> </a:t>
            </a:r>
            <a:r>
              <a:rPr lang="en-US" altLang="en-US" sz="1500"/>
              <a:t>Poor general health, high blood pressure, high cholesterol, and increasing age show the strongest associations with heart disease.</a:t>
            </a:r>
            <a:endParaRPr lang="en-US" altLang="en-US" sz="1500"/>
          </a:p>
          <a:p>
            <a:r>
              <a:rPr lang="en-US" altLang="en-US" sz="1500">
                <a:sym typeface="+mn-ea"/>
              </a:rPr>
              <a:t>•</a:t>
            </a:r>
            <a:r>
              <a:rPr lang="en-IN" altLang="en-US" sz="1500">
                <a:sym typeface="+mn-ea"/>
              </a:rPr>
              <a:t> </a:t>
            </a:r>
            <a:r>
              <a:rPr lang="en-US" altLang="en-US" sz="1500"/>
              <a:t>Socioeconomic factors (income and education) appear protective, while lifestyle factors such as BMI,</a:t>
            </a:r>
            <a:r>
              <a:rPr lang="en-IN" altLang="en-US" sz="1500">
                <a:sym typeface="+mn-ea"/>
              </a:rPr>
              <a:t> </a:t>
            </a:r>
            <a:r>
              <a:rPr lang="en-US" altLang="en-US" sz="1500"/>
              <a:t>smoking, and alcohol play a secondary role.</a:t>
            </a:r>
            <a:endParaRPr lang="en-US" altLang="en-US" sz="1500"/>
          </a:p>
          <a:p>
            <a:r>
              <a:rPr lang="en-US" altLang="en-US" sz="1500">
                <a:sym typeface="+mn-ea"/>
              </a:rPr>
              <a:t>•</a:t>
            </a:r>
            <a:r>
              <a:rPr lang="en-IN" altLang="en-US" sz="1500">
                <a:sym typeface="+mn-ea"/>
              </a:rPr>
              <a:t> </a:t>
            </a:r>
            <a:r>
              <a:rPr lang="en-US" altLang="en-US" sz="1500"/>
              <a:t>Overall, the dataset demonstrates strong internal consistency and meaningful health insights.</a:t>
            </a:r>
            <a:endParaRPr lang="en-US" altLang="en-US" sz="1500"/>
          </a:p>
        </p:txBody>
      </p:sp>
      <p:sp>
        <p:nvSpPr>
          <p:cNvPr id="5" name="Text Box 4"/>
          <p:cNvSpPr txBox="1"/>
          <p:nvPr/>
        </p:nvSpPr>
        <p:spPr>
          <a:xfrm>
            <a:off x="486410" y="3903980"/>
            <a:ext cx="8229600" cy="29533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2400" b="1" u="sng">
                <a:sym typeface="+mn-ea"/>
              </a:rPr>
              <a:t>Limitations</a:t>
            </a:r>
            <a:endParaRPr lang="en-US" altLang="en-US" sz="2400" b="1" u="sng">
              <a:sym typeface="+mn-ea"/>
            </a:endParaRPr>
          </a:p>
          <a:p>
            <a:endParaRPr lang="en-US" altLang="en-US">
              <a:sym typeface="+mn-ea"/>
            </a:endParaRPr>
          </a:p>
          <a:p>
            <a:r>
              <a:rPr lang="en-US" altLang="en-US" sz="1500">
                <a:sym typeface="+mn-ea"/>
              </a:rPr>
              <a:t>• Self-Reported Data</a:t>
            </a:r>
            <a:endParaRPr lang="en-US" altLang="en-US" sz="1500">
              <a:sym typeface="+mn-ea"/>
            </a:endParaRPr>
          </a:p>
          <a:p>
            <a:r>
              <a:rPr lang="en-US" altLang="en-US" sz="1500">
                <a:sym typeface="+mn-ea"/>
              </a:rPr>
              <a:t>All health and lifestyle variables are self-reported, which may introduce recall and reporting bias.</a:t>
            </a:r>
            <a:endParaRPr lang="en-US" altLang="en-US" sz="1500">
              <a:sym typeface="+mn-ea"/>
            </a:endParaRPr>
          </a:p>
          <a:p>
            <a:r>
              <a:rPr lang="en-US" altLang="en-US" sz="1500">
                <a:sym typeface="+mn-ea"/>
              </a:rPr>
              <a:t>• Class Imbalance</a:t>
            </a:r>
            <a:endParaRPr lang="en-US" altLang="en-US" sz="1500">
              <a:sym typeface="+mn-ea"/>
            </a:endParaRPr>
          </a:p>
          <a:p>
            <a:r>
              <a:rPr lang="en-US" altLang="en-US" sz="1500">
                <a:sym typeface="+mn-ea"/>
              </a:rPr>
              <a:t>Only ~10% of individuals report heart disease, which limits direct prevalence comparisons and requires caution in interpretation.</a:t>
            </a:r>
            <a:endParaRPr lang="en-US" altLang="en-US" sz="1500">
              <a:sym typeface="+mn-ea"/>
            </a:endParaRPr>
          </a:p>
          <a:p>
            <a:r>
              <a:rPr lang="en-US" altLang="en-US" sz="1500">
                <a:sym typeface="+mn-ea"/>
              </a:rPr>
              <a:t>• Correlation ≠ Causation</a:t>
            </a:r>
            <a:endParaRPr lang="en-US" altLang="en-US" sz="1500">
              <a:sym typeface="+mn-ea"/>
            </a:endParaRPr>
          </a:p>
          <a:p>
            <a:r>
              <a:rPr lang="en-US" altLang="en-US" sz="1500">
                <a:sym typeface="+mn-ea"/>
              </a:rPr>
              <a:t>This is an observational dataset — relationships show association, not medical causality.</a:t>
            </a:r>
            <a:endParaRPr lang="en-US" altLang="en-US" sz="1500">
              <a:sym typeface="+mn-ea"/>
            </a:endParaRPr>
          </a:p>
          <a:p>
            <a:r>
              <a:rPr lang="en-US" altLang="en-US" sz="1500">
                <a:sym typeface="+mn-ea"/>
              </a:rPr>
              <a:t>• Coded Variables</a:t>
            </a:r>
            <a:endParaRPr lang="en-US" altLang="en-US" sz="1500">
              <a:sym typeface="+mn-ea"/>
            </a:endParaRPr>
          </a:p>
          <a:p>
            <a:r>
              <a:rPr lang="en-US" altLang="en-US" sz="1500">
                <a:sym typeface="+mn-ea"/>
              </a:rPr>
              <a:t>Age, income, and education are grouped into categories, reducing numerical precision.</a:t>
            </a:r>
            <a:endParaRPr lang="en-US" altLang="en-US" sz="1500"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4842</Words>
  <Application>WPS Presentation</Application>
  <PresentationFormat>On-screen Show (4:3)</PresentationFormat>
  <Paragraphs>101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with Heart Disease</vt:lpstr>
      <vt:lpstr>1. Project Overview &amp; Objectives</vt:lpstr>
      <vt:lpstr>2. Data Cleaning &amp; Integrity</vt:lpstr>
      <vt:lpstr>3. Target Variable Analysis</vt:lpstr>
      <vt:lpstr>4. Univariate Analysis: Demographics</vt:lpstr>
      <vt:lpstr>5. Univariate Analysis: Health Metrics</vt:lpstr>
      <vt:lpstr>6. Bivariate Analysis: Clinical Factors</vt:lpstr>
      <vt:lpstr>7. Lifestyle &amp; Comorbidities</vt:lpstr>
      <vt:lpstr>8. Correlation Analysis</vt:lpstr>
      <vt:lpstr>9. Advanced Insight: The Alcohol Paradox</vt:lpstr>
      <vt:lpstr>10. Summary of Key Findings</vt:lpstr>
      <vt:lpstr>11. Conclusion &amp; Limitations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Just Trolling</cp:lastModifiedBy>
  <cp:revision>2</cp:revision>
  <dcterms:created xsi:type="dcterms:W3CDTF">2013-01-27T09:14:00Z</dcterms:created>
  <dcterms:modified xsi:type="dcterms:W3CDTF">2026-01-17T12:20:53Z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B2C26C83200140E0B642E2D1713EE428_12</vt:lpwstr>
  </property>
  <property fmtid="{D5CDD505-2E9C-101B-9397-08002B2CF9AE}" pid="3" name="KSOProductBuildVer">
    <vt:lpwstr>1033-12.2.0.23196</vt:lpwstr>
  </property>
</Properties>
</file>